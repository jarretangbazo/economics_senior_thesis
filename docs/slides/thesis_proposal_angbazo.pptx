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6580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42084-ABC1-8FC2-AF49-F486FB550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D01C1-92BC-454A-815B-22899F256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38849-E2E2-978E-F403-30C07CA46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14653-E541-C741-A8CA-B1FE245DED0C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71D24-5F76-44C5-E362-CFCD2D147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20946-D880-2D70-0FC7-19BF3036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33495-4573-DA46-8A6D-A0AE9FB9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242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637D2-6C37-C8BD-333E-56F3F557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30B4B-7EED-AA6B-3DF5-B64814408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42AE7-C5E9-8AA4-7038-842BA412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14653-E541-C741-A8CA-B1FE245DED0C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86549-5710-0772-884A-A7610B81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7A6F0-99A9-2E0D-D9A3-7C997FF6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33495-4573-DA46-8A6D-A0AE9FB9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3870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36840-128B-3113-BE39-9BEC69419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EF2D0-FC45-09F8-814D-7EC2B51DA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09091-1650-D280-1E37-7B7A5FD09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14653-E541-C741-A8CA-B1FE245DED0C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EE089-F57F-D2EF-E31E-98F6A8882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ED318-383B-9B19-7B1C-156DA68F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33495-4573-DA46-8A6D-A0AE9FB9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2760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44AF0-02E4-548A-D7AD-DF96C5894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9F3AE-97F8-2A7C-E3CD-29A08D8894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14AB7-3CA3-0433-5AEF-907A1422C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63DA5-D796-95C6-147C-6D6E7410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14653-E541-C741-A8CA-B1FE245DED0C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565FE-68E4-FA95-7BE2-E14970D51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EE42B-C2C7-3F67-062A-328F61EB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33495-4573-DA46-8A6D-A0AE9FB9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507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AF0A9-40FE-BEB6-5FEB-62EC00CC5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3117E-7DB5-1411-41C1-94FC266FF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8D255-23BC-AC38-82C5-E05CD191D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46C1E3-886E-E28C-AEE7-A0D8C0C8BE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A747A8-1AFB-66E8-8587-366C4D65A3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6BB982-0E10-3E5B-9BC3-E603C41BA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14653-E541-C741-A8CA-B1FE245DED0C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3B93D2-6EF9-C639-6457-4BEF8CA9B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B40F2F-A0E6-FEE0-DFBD-40B4CC124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33495-4573-DA46-8A6D-A0AE9FB9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5010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09F90-0AEB-DB7B-E250-7AD2B0EE5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B2D31-DCBA-2CCF-6B4E-A40CE9AD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14653-E541-C741-A8CA-B1FE245DED0C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874905-A5DA-4927-F6C9-DAA75FBF8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C082F-B29A-4DA0-2B0E-ACE6EBBE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33495-4573-DA46-8A6D-A0AE9FB9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6523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33428F-46C0-4F86-8A06-C9F8ABA5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14653-E541-C741-A8CA-B1FE245DED0C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F2D60-3422-0773-F14A-437842629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84095-316A-893F-88C4-E385D983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33495-4573-DA46-8A6D-A0AE9FB9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6157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19F9-FFA3-5615-5D01-65F82C857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C80E2-1AAB-C7D3-FA03-48E4F4CC6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80BCA-6B6D-15DB-EC76-949EBFD3F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40A05-4070-7F3C-0255-E74749C6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14653-E541-C741-A8CA-B1FE245DED0C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04A00-953F-2808-BCD5-BB0725D7F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00C5D-C9DE-C7E3-1A0D-B9EA8C6C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33495-4573-DA46-8A6D-A0AE9FB9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4114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54330-ADB2-2304-D823-BAA7E462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640F7D-DB64-BEE1-AB45-A74E1C93D9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29DB3-C999-3D8C-4447-E4F16A82E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E25EC-78B1-E078-71FC-3CD3A1A2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14653-E541-C741-A8CA-B1FE245DED0C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8E6FE-790D-47B7-7028-DF011FED7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DE3AA-F9F1-8678-E3B2-D196C2928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33495-4573-DA46-8A6D-A0AE9FB9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415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825BA-4307-6863-273A-5259322E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1F773-866B-4ECA-5230-3A6E89F0A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B64FA-C2CE-6520-666E-1B7152A94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14653-E541-C741-A8CA-B1FE245DED0C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696B9-9B46-BD5C-4A09-342777A7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C3FD8-37F7-6375-15AB-372ECD9C5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33495-4573-DA46-8A6D-A0AE9FB9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219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F4F2FB-5A3B-78A4-ABB9-8F7E3577A1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1359DE-7A91-BEA0-E616-3510EE6CA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0C65F-D9D9-B281-66DF-A0ED6E5A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14653-E541-C741-A8CA-B1FE245DED0C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DA9F9-EB09-C204-85C7-0A7C8C3D9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0224F-85D3-66B7-191A-C619D6D6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33495-4573-DA46-8A6D-A0AE9FB9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930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70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1E4BD-B494-31A3-F035-9D389CFCA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032CE-835D-EB92-6286-BE0A8E6C7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D45E9-794E-B101-7B5E-2399FC674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14653-E541-C741-A8CA-B1FE245DED0C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729CC-E82A-5E90-BC50-AFA1C15C7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75ACD-2CF6-F7B9-82EB-387ED2BC7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33495-4573-DA46-8A6D-A0AE9FB9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7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3474720"/>
            <a:ext cx="3200400" cy="166878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62D54"/>
          </a:solidFill>
          <a:ln w="12700">
            <a:solidFill>
              <a:srgbClr val="162D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Impact of Violent Conflict on Educational Attainment in Nigeria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E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 Proposal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2560320" cy="2743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5468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Jarret Angbazo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ECON396 – Economics Honors Seminar</a:t>
            </a:r>
          </a:p>
          <a:p>
            <a:r>
              <a:rPr lang="en-US" sz="1300" dirty="0">
                <a:solidFill>
                  <a:srgbClr val="A8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Economics · University of Maryland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0"/>
            <a:ext cx="45720" cy="514350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E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matters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2860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55117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out of school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Northeast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" y="33101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33467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closures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Borno at peak conflict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" y="41056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yrs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08760" y="41422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Boko Haram active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(2002 – present)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11880" y="475488"/>
            <a:ext cx="36576" cy="25603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475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11880" y="8686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11880" y="13716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faces multiple overlapping conflict axes — the Boko Haram insurgency in the Northeast, farmer-herder clashes in the Middle Belt, and persistent ethnic and religious tensions. Each of these disrupts schooling through displacement, targeted attacks on schools, and chronic insecurity.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11880" y="2514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11880" y="29260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literature exists on the economic causes of conflict, but the causal effects of violence on human capital accumulation — especially through a difference-in-differences lens — remain underexplored in the Nigerian context.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11880" y="3931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11880" y="43434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 of educational disruption; generate evidence that can inform targeted policy interventions.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Nigeria's Conflict Landscape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36576" cy="25603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49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2697480" cy="228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Insurgency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" y="1920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4632" y="2212848"/>
            <a:ext cx="2194560" cy="22860"/>
          </a:xfrm>
          <a:prstGeom prst="rect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331720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Boko Haram (2002–present) and its ISWAP splinter have caused mass displacement, systematic attacks on schools, and forced recruitment — devastating Borno, Yobe, and Adamawa states.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43000"/>
            <a:ext cx="2697480" cy="228600"/>
          </a:xfrm>
          <a:prstGeom prst="rect">
            <a:avLst/>
          </a:prstGeom>
          <a:solidFill>
            <a:srgbClr val="7B4F00"/>
          </a:solidFill>
          <a:ln w="12700">
            <a:solidFill>
              <a:srgbClr val="7B4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Communal Conflict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64992" y="1920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BELT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64992" y="2212848"/>
            <a:ext cx="2194560" cy="22860"/>
          </a:xfrm>
          <a:prstGeom prst="rect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2331720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Farmer-herder clashes intensified by climate-driven resource scarcity have produced repeated cycles of violence in Plateau, Benue, and Nasarawa, disrupting schooling at the community level.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14300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143000"/>
            <a:ext cx="2697480" cy="228600"/>
          </a:xfrm>
          <a:prstGeom prst="rect">
            <a:avLst/>
          </a:prstGeom>
          <a:solidFill>
            <a:srgbClr val="1A4B6E"/>
          </a:solidFill>
          <a:ln w="12700">
            <a:solidFill>
              <a:srgbClr val="1A4B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Ethnic &amp; Religious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45352" y="1920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1A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45352" y="2212848"/>
            <a:ext cx="2194560" cy="22860"/>
          </a:xfrm>
          <a:prstGeom prst="rect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2331720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tensions between religious and ethnic groups create baseline insecurity, differential schooling norms, and gender-specific barriers — particularly for girls in conservative Northern states.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conflict axes affect educational attainment through distinct mechanisms — displacement, school destruction, security-driven absenteeism, and shifting household priorities.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0"/>
            <a:ext cx="45720" cy="514350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943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core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E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inquiries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47872" y="384048"/>
            <a:ext cx="36576" cy="25603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547872" y="749808"/>
            <a:ext cx="347472" cy="347472"/>
          </a:xfrm>
          <a:prstGeom prst="ellipse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758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05072" y="731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long-term impacts of violence on educational outcomes in Nigeria — enrollment, participation, and completion?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47872" y="1225296"/>
            <a:ext cx="5303520" cy="18288"/>
          </a:xfrm>
          <a:prstGeom prst="rect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7872" y="1581912"/>
            <a:ext cx="347472" cy="347472"/>
          </a:xfrm>
          <a:prstGeom prst="ellipse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59105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05072" y="15636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educational attainment differ between regions affected by terrorism versus those affected by tribal or communal conflicts?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547872" y="2057400"/>
            <a:ext cx="5303520" cy="18288"/>
          </a:xfrm>
          <a:prstGeom prst="rect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47872" y="2414016"/>
            <a:ext cx="347472" cy="347472"/>
          </a:xfrm>
          <a:prstGeom prst="ellipse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242316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05072" y="23957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cultural and religious factors mediate educational attainment in conflict zones?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547872" y="2889504"/>
            <a:ext cx="5303520" cy="18288"/>
          </a:xfrm>
          <a:prstGeom prst="rect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47872" y="3246120"/>
            <a:ext cx="347472" cy="347472"/>
          </a:xfrm>
          <a:prstGeom prst="ellipse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325526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05072" y="32278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role does government policy play in addressing educational disparities in violent regions?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547872" y="3721608"/>
            <a:ext cx="5303520" cy="18288"/>
          </a:xfrm>
          <a:prstGeom prst="rect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47872" y="4078224"/>
            <a:ext cx="347472" cy="347472"/>
          </a:xfrm>
          <a:prstGeom prst="ellipse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408736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005072" y="40599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community support systems in conflict-affected areas influence educational attainment?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547872" y="4663440"/>
            <a:ext cx="530352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4663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 for this thesis: R1 and R2  ·  R3–R5 addressed in future PhD work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36576" cy="25603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49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1031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103120" cy="2011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ACLED events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LGA level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95728" y="2304288"/>
            <a:ext cx="457200" cy="2743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1945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943A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188720"/>
            <a:ext cx="21031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188720"/>
            <a:ext cx="2103120" cy="2011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1887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97480" y="14813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Household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9748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costs, safety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27448" y="2304288"/>
            <a:ext cx="457200" cy="2743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1945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943A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1188720"/>
            <a:ext cx="21031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188720"/>
            <a:ext cx="2103120" cy="2011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1887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14813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59168" y="2304288"/>
            <a:ext cx="457200" cy="2743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21945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943A"/>
                </a:solidFill>
              </a:rPr>
              <a:t>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69480" y="1188720"/>
            <a:ext cx="21031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69480" y="1188720"/>
            <a:ext cx="2103120" cy="2011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11887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60920" y="14813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Attainment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36092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schooling,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3639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MODERATING FACTORS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3931920"/>
            <a:ext cx="1554480" cy="411480"/>
          </a:xfrm>
          <a:prstGeom prst="rect">
            <a:avLst/>
          </a:prstGeom>
          <a:solidFill>
            <a:srgbClr val="162D54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048256" y="3931920"/>
            <a:ext cx="1554480" cy="411480"/>
          </a:xfrm>
          <a:prstGeom prst="rect">
            <a:avLst/>
          </a:prstGeom>
          <a:solidFill>
            <a:srgbClr val="162D54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48256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/ Rural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730752" y="3931920"/>
            <a:ext cx="1554480" cy="411480"/>
          </a:xfrm>
          <a:prstGeom prst="rect">
            <a:avLst/>
          </a:prstGeom>
          <a:solidFill>
            <a:srgbClr val="162D54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30752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Quintile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13248" y="3931920"/>
            <a:ext cx="1554480" cy="411480"/>
          </a:xfrm>
          <a:prstGeom prst="rect">
            <a:avLst/>
          </a:prstGeom>
          <a:solidFill>
            <a:srgbClr val="162D54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13248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Policies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95744" y="3931920"/>
            <a:ext cx="1554480" cy="411480"/>
          </a:xfrm>
          <a:prstGeom prst="rect">
            <a:avLst/>
          </a:prstGeom>
          <a:solidFill>
            <a:srgbClr val="162D54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95744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4553712"/>
            <a:ext cx="8229600" cy="36576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537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Strategy: Difference-in-Differences  ·  Northeast × Post-2009 Cohorts vs. Rest of Nigeria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0"/>
            <a:ext cx="45720" cy="514350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943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primary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E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" y="2834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last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census: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56032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calibrated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census + prior waves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47872" y="384048"/>
            <a:ext cx="36576" cy="25603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47872" y="713232"/>
            <a:ext cx="5303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47872" y="713232"/>
            <a:ext cx="73152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758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DHS (NDHS)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10332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 ·  Waves: 2008 · 2013 · 2018 · 2023/24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49040" y="122529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recode files with education variables (v133, v149), wealth index, and state codes. Primary source for outcome variables.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47872" y="1755648"/>
            <a:ext cx="5303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47872" y="1755648"/>
            <a:ext cx="73152" cy="914400"/>
          </a:xfrm>
          <a:prstGeom prst="rect">
            <a:avLst/>
          </a:prstGeom>
          <a:solidFill>
            <a:srgbClr val="1A4B6E"/>
          </a:solidFill>
          <a:ln w="12700">
            <a:solidFill>
              <a:srgbClr val="1A4B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801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Household Survey (GHS)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20756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panel  ·  Waves: 2010/11 · 2012/13 · 2015/16 · 2018/19 · 2023/24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749040" y="226771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households surveyed twice per wave. Contains educational, labor, and psychological well-being indicators.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47872" y="2798064"/>
            <a:ext cx="5303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47872" y="2798064"/>
            <a:ext cx="73152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843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ACLED Conflict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311810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Geo-referenced events  ·  Waves: 1997 – 2019 (annual CSVs)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49040" y="331012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LGA-level event records for Nigeria. Treatment variable: violent events per LGA-year. Media bias assessed before use.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47872" y="3840480"/>
            <a:ext cx="5303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47872" y="3840480"/>
            <a:ext cx="73152" cy="914400"/>
          </a:xfrm>
          <a:prstGeom prst="rect">
            <a:avLst/>
          </a:prstGeom>
          <a:solidFill>
            <a:srgbClr val="7B4F00"/>
          </a:solidFill>
          <a:ln w="12700">
            <a:solidFill>
              <a:srgbClr val="7B4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Terrorism Database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4160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Incident-level  ·  Waves: Annual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749040" y="435254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data on terrorist incidents globally. Used to cross-validate ACLED Boko Haram classifications.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36576" cy="25603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49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STRATEGY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2331720"/>
          </a:xfrm>
          <a:prstGeom prst="rect">
            <a:avLst/>
          </a:prstGeom>
          <a:solidFill>
            <a:srgbClr val="0D1F3C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Specification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19" y="1645920"/>
            <a:ext cx="385806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β₀+β₁NE+β₂Post+β₃(NE×Post)+</a:t>
            </a:r>
            <a:r>
              <a:rPr lang="en-US" sz="15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X'γ+ε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050" dirty="0">
                <a:solidFill>
                  <a:srgbClr val="A8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educational outcome (years schooling, completion)
</a:t>
            </a:r>
            <a:r>
              <a:rPr lang="en-US" sz="1050" b="1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r>
              <a:rPr lang="en-US" sz="1050" dirty="0">
                <a:solidFill>
                  <a:srgbClr val="A8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Northeast region indicator
</a:t>
            </a:r>
            <a:r>
              <a:rPr lang="en-US" sz="1050" b="1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r>
              <a:rPr lang="en-US" sz="1050" dirty="0">
                <a:solidFill>
                  <a:srgbClr val="A8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post-2009 birth cohort
</a:t>
            </a:r>
            <a:r>
              <a:rPr lang="en-US" sz="1050" b="1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β₃</a:t>
            </a:r>
            <a:r>
              <a:rPr lang="en-US" sz="1050" dirty="0">
                <a:solidFill>
                  <a:srgbClr val="A8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DiD estimate of interest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384048" cy="384048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66360" y="1124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Treatment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4173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states (Borno, Yobe, Adamawa, Gombe, Bauchi, Taraba) treated via Boko Haram shock; other states as control.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984248"/>
            <a:ext cx="4160520" cy="18288"/>
          </a:xfrm>
          <a:prstGeom prst="rect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057400"/>
            <a:ext cx="384048" cy="384048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2066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Cohorts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235915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born 1991–2014 (school-age during insurgency). Pre: born before 1991 (completed schooling before 2009).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160520" cy="18288"/>
          </a:xfrm>
          <a:prstGeom prst="rect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999232"/>
            <a:ext cx="384048" cy="384048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66360" y="3008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Exposure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330098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ACLED violent events aggregated to state × year. Log-transformed intensity as continuous treatment in robustness checks.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867912"/>
            <a:ext cx="4160520" cy="18288"/>
          </a:xfrm>
          <a:prstGeom prst="rect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941064"/>
            <a:ext cx="384048" cy="384048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Clustering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424281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errors clustered at state level (37 clusters). Robustness: HC1, LGA-level clustering.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0"/>
            <a:ext cx="45720" cy="514350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943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Methodological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Navigating data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E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47872" y="384048"/>
            <a:ext cx="36576" cy="25603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STRATEGIES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547872" y="685800"/>
            <a:ext cx="5303520" cy="3657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694944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displaced populations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47872" y="1051560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08813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Respondent-Driven Sampling (RDS) to reach marginalized communities; mobile surveys via SMS/USSD for areas with limited smartphone access.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47872" y="1737360"/>
            <a:ext cx="5303520" cy="3657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746504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reliability in conflict zones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47872" y="2103120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13969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Cross-validate ACLED against Global Terrorism Database; assess media bias systematically; use geo-referenced data to reduce recall error.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47872" y="2788920"/>
            <a:ext cx="5303520" cy="3657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2798064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design for trauma contexts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47872" y="3154680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319125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Field-interviewers trained with distress protocols; gamified web surveys for youth; longitudinal vs. cross-sectional comparison.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47872" y="3840480"/>
            <a:ext cx="5303520" cy="3657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3849624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trends assumption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47872" y="4206240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424281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Event study with pre-treatment cohort interactions; placebo test using fake insurgency onset; border-state exclusion robustness check.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Innovative Data Collection Methods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36576" cy="25603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49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697480" cy="228600"/>
          </a:xfrm>
          <a:prstGeom prst="rect">
            <a:avLst/>
          </a:prstGeom>
          <a:solidFill>
            <a:srgbClr val="1A4B6E"/>
          </a:solidFill>
          <a:ln w="12700">
            <a:solidFill>
              <a:srgbClr val="1A4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 Sensing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Geospatial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to analyze school infrastructure and displacement patterns without requiring physical presence in unsafe areas. Enables poverty hotspot mapping and policy targeting at LGA level.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697480" cy="228600"/>
          </a:xfrm>
          <a:prstGeom prst="rect">
            <a:avLst/>
          </a:prstGeom>
          <a:solidFill>
            <a:srgbClr val="7B4F00"/>
          </a:solidFill>
          <a:ln w="12700">
            <a:solidFill>
              <a:srgbClr val="7B4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898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Surveys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(SMS / USSD)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99339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lightweight surveys for populations with limited smartphone access. Cost-effective for broad reach in rural and displaced communities across northern Nigeria.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97280"/>
            <a:ext cx="2697480" cy="228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3898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Crowdsourced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99339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local communities to report educational disruptions and violence incidents through mobile apps or social platforms — providing real-time, granular insights.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310896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3108960"/>
            <a:ext cx="4206240" cy="228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4015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Respondent-Driven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Sampling (RDS)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40050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Network-based sampling to reach displaced and hard-to-reach populations where no sampling frame exists. Produces statistically representative estimates.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0" y="310896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0" y="3108960"/>
            <a:ext cx="4206240" cy="228600"/>
          </a:xfrm>
          <a:prstGeom prst="rect">
            <a:avLst/>
          </a:prstGeom>
          <a:solidFill>
            <a:srgbClr val="5B2D8B"/>
          </a:solidFill>
          <a:ln w="12700">
            <a:solidFill>
              <a:srgbClr val="5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34015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Gamified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Surveys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40050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techniques embedded in web surveys to improve engagement and accuracy among youth populations in accessible areas.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0"/>
            <a:ext cx="45720" cy="514350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943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Planned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E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this 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47872" y="384048"/>
            <a:ext cx="36576" cy="25603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547872" y="685800"/>
            <a:ext cx="5303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47872" y="685800"/>
            <a:ext cx="73152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47872" y="685800"/>
            <a:ext cx="384048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685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41648" y="722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Dashboard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76288" y="758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41648" y="107899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Geo-referenced ACLED data visualized at National / State / LGA level. Animated slider by year to show evolution of conflict events. Built for policymakers and researchers.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47872" y="1764792"/>
            <a:ext cx="5303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47872" y="1764792"/>
            <a:ext cx="73152" cy="960120"/>
          </a:xfrm>
          <a:prstGeom prst="rect">
            <a:avLst/>
          </a:prstGeom>
          <a:solidFill>
            <a:srgbClr val="1A4B6E"/>
          </a:solidFill>
          <a:ln w="12700">
            <a:solidFill>
              <a:srgbClr val="1A4B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47872" y="1764792"/>
            <a:ext cx="384048" cy="384048"/>
          </a:xfrm>
          <a:prstGeom prst="rect">
            <a:avLst/>
          </a:prstGeom>
          <a:solidFill>
            <a:srgbClr val="1A4B6E"/>
          </a:solidFill>
          <a:ln w="12700">
            <a:solidFill>
              <a:srgbClr val="1A4B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7872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41648" y="1801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&amp; Health 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76288" y="1837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1A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41648" y="21579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DHS data displayed as heatmaps of education, age, gender, and religion by locality. Year slider + choropleth mapping to identify spatial patterns.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47872" y="2843784"/>
            <a:ext cx="5303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47872" y="2843784"/>
            <a:ext cx="73152" cy="9601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47872" y="2843784"/>
            <a:ext cx="384048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41648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76288" y="2916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THESIS OUTPUT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041648" y="3236976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econometric analysis addressing RQ1 (long-term impacts) and RQ2 (terrorism vs. communal conflict). DiD estimation with event study, robustness checks, and heterogeneity analysis.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47872" y="3922776"/>
            <a:ext cx="5303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47872" y="3922776"/>
            <a:ext cx="73152" cy="960120"/>
          </a:xfrm>
          <a:prstGeom prst="rect">
            <a:avLst/>
          </a:prstGeom>
          <a:solidFill>
            <a:srgbClr val="5B2D8B"/>
          </a:solidFill>
          <a:ln w="12700">
            <a:solidFill>
              <a:srgbClr val="5B2D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47872" y="3922776"/>
            <a:ext cx="384048" cy="384048"/>
          </a:xfrm>
          <a:prstGeom prst="rect">
            <a:avLst/>
          </a:prstGeom>
          <a:solidFill>
            <a:srgbClr val="5B2D8B"/>
          </a:solidFill>
          <a:ln w="12700">
            <a:solidFill>
              <a:srgbClr val="5B2D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041648" y="3959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PhD Research Agenda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76288" y="3995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5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HORIZON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041648" y="431596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RQ3–RQ5 (cultural factors, policy, community systems) and the psychological well-being extension will be addressed through the PhD program.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 Psychological Well-Being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36576" cy="256032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49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EXTENSION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868680"/>
          </a:xfrm>
          <a:prstGeom prst="rect">
            <a:avLst/>
          </a:prstGeom>
          <a:solidFill>
            <a:srgbClr val="0D1F3C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7043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E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"Much work has gone into the economic determinants and consequences of conflict, yet not much work has been conducted on the effects of conflict on psychological well-being."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40690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03120"/>
            <a:ext cx="4069080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Panel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50592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households surveyed across 3 waves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Waves: 2010/11, 2012/13, 2015/16 (2 rounds/year)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well-being module: Wave 3 only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10-question composite score (yes/no responses)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head responses on emotional states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103120"/>
            <a:ext cx="40690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103120"/>
            <a:ext cx="4069080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103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Approach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2450592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composite psychological distress score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conflict intensity at household location (ACLED)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IV approach following Barra, Berg &amp; Verwimp (2018)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Instruments: geo-referenced conflict exposure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 household agricultural variables from GHS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GHS post-harvest Wave 3 is the first round to include the psychological well-being module, limiting longitudinal analysis.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D54"/>
          </a:solidFill>
          <a:ln w="12700">
            <a:solidFill>
              <a:srgbClr val="162D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3200400"/>
            <a:ext cx="2926080" cy="194310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01168" cy="201168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47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DiD study of Boko Haram's impact on educational attainment using DHS + ACLED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201168" cy="201168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780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insurgency effects (NE) from broader communal conflict effects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026664"/>
            <a:ext cx="201168" cy="201168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083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conflict-education literature to psychological well-being (GHS Wave 3)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557016"/>
            <a:ext cx="201168" cy="201168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387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reusable conflict and DHS dashboards for Nigeria at LGA resolution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274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1234440"/>
            <a:ext cx="246888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25272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Finalize DHS survey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access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46520" y="1728216"/>
            <a:ext cx="246888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7465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Complete ACLED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(01_acled_process.py)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46520" y="2221992"/>
            <a:ext cx="246888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2402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Run baseline DiD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46520" y="2715768"/>
            <a:ext cx="246888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7340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Advisor review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3310128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to inform education policy in conflict-affected Nigeria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Jarret Angbazo  ·  November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1450</Words>
  <Application>Microsoft Macintosh PowerPoint</Application>
  <PresentationFormat>On-screen Show (16:9)</PresentationFormat>
  <Paragraphs>232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 Under Fire — Nigeria Thesis Proposal</dc:title>
  <dc:subject>PptxGenJS Presentation</dc:subject>
  <dc:creator>Jarret Angbazo</dc:creator>
  <cp:lastModifiedBy>Jarret Angbazo</cp:lastModifiedBy>
  <cp:revision>2</cp:revision>
  <dcterms:created xsi:type="dcterms:W3CDTF">2026-03-02T00:40:29Z</dcterms:created>
  <dcterms:modified xsi:type="dcterms:W3CDTF">2026-03-02T00:57:23Z</dcterms:modified>
</cp:coreProperties>
</file>